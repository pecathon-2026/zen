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ce92ce52-617d-08e9-d5bc-0ac5fbf3c2b8}">
          <p14:sldIdLst>
            <p14:sldId id="256"/>
          </p14:sldIdLst>
        </p14:section>
        <p14:section name="Problem and design" id="{1435edd7-dc3a-133b-b827-16f9b04ae2a8}">
          <p14:sldIdLst>
            <p14:sldId id="257"/>
            <p14:sldId id="258"/>
            <p14:sldId id="259"/>
          </p14:sldIdLst>
        </p14:section>
        <p14:section name="How it works" id="{bb80fe60-1e73-aa9f-f6d1-2efe8328d70c}">
          <p14:sldIdLst>
            <p14:sldId id="260"/>
            <p14:sldId id="261"/>
            <p14:sldId id="262"/>
          </p14:sldIdLst>
        </p14:section>
        <p14:section name="Results" id="{194ea8dd-37ea-b3ad-6556-a94a9e134086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6140F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6140F"/>
                </a:solidFill>
                <a:latin typeface="+mn-lt"/>
              </a:rPr>
              <a:t>Leak rate by attack type (%), 48 scenarios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Plain redaction</c:v>
                </c:pt>
              </c:strCache>
            </c:strRef>
          </c:tx>
          <c:spPr>
            <a:solidFill>
              <a:srgbClr val="D9B8A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5A4A4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Partial values</c:v>
                  </c:pt>
                  <c:pt idx="1">
                    <c:v>Recomputable</c:v>
                  </c:pt>
                  <c:pt idx="2">
                    <c:v>Quasi-IDs</c:v>
                  </c:pt>
                  <c:pt idx="3">
                    <c:v>Cross-field</c:v>
                  </c:pt>
                  <c:pt idx="4">
                    <c:v>Context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  <c:pt idx="4">
                  <c:v>100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Zen (minimised)</c:v>
                </c:pt>
              </c:strCache>
            </c:strRef>
          </c:tx>
          <c:spPr>
            <a:solidFill>
              <a:srgbClr val="B8431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5A4A4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Partial values</c:v>
                  </c:pt>
                  <c:pt idx="1">
                    <c:v>Recomputable</c:v>
                  </c:pt>
                  <c:pt idx="2">
                    <c:v>Quasi-IDs</c:v>
                  </c:pt>
                  <c:pt idx="3">
                    <c:v>Cross-field</c:v>
                  </c:pt>
                  <c:pt idx="4">
                    <c:v>Context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9</c:v>
                </c:pt>
                <c:pt idx="2">
                  <c:v>0</c:v>
                </c:pt>
                <c:pt idx="3">
                  <c:v>12</c:v>
                </c:pt>
                <c:pt idx="4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5A4A4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4A4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B1C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Zen is a Chrome extension plus a Python agent that lets AI agents work on web pages while sensitive data never reaches the external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Baseline from eval.shield_eval with the shield off: OCR reads 21 of the 34 synthetic sensitive values.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Also: India-specific IDs with real checksums (Aadhaar Verhoeff, GSTIN mod-36, UPI, IFSC), a JS port that runs offline in the extension, and an on-device planner option via Ollama.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surfaces share this pipeline: the Chrome extension (main), the Python agent, and the web app.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Measured with eval.shield_eval in real Chromium: 0 values in screenshots, page text or input values; mean field cover 87%; focus keeps 95% cover.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eval.inference.run: an offline attacker tries to recover each redacted value from context. Leak = exact recovery, at least 1 bit narrowed, or re-identification. 2 known-gap leaks remain after minimise.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End-to-end tests prove vault values reach the page but never model payloads, logs or reports.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Reproduce: python -m eval.shield_eval, python -m eval.run_eval, python -m eval.inference.run, pytest -q, node --test extension/tests/.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EN_DARK">
    <p:bg>
      <p:bgPr>
        <a:solidFill>
          <a:srgbClr val="1614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EN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457200" y="47731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Zen · PS-004 PrivacyLens · PECathon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300" kern="0" dirty="0">
                <a:solidFill>
                  <a:schemeClr val="accent6"/>
                </a:solidFill>
              </a:rPr>
              <a:t>PECATHON 2026 · PS-004 PRIVACYLENS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Zen</a:t>
            </a:r>
            <a:pPr indent="0" marL="0">
              <a:buNone/>
            </a:pPr>
            <a:r>
              <a:rPr lang="en-US" sz="8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endParaRPr lang="en-US" sz="8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4231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A local privacy lens for AI browser agents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9718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“Compute what is sensitive locally. Reason globally only on sanitized data.”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3840480"/>
            <a:ext cx="1828800" cy="274320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3840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[REDACTED:CARD]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514600" y="3840480"/>
            <a:ext cx="1828800" cy="274320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514600" y="3840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[REDACTED:AADHAAR]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80560" y="3840480"/>
            <a:ext cx="1828800" cy="274320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480560" y="3840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[REDACTED:OTP]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46520" y="3840480"/>
            <a:ext cx="1828800" cy="274320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46520" y="3840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[REDACTED:API_KEY]</a:t>
            </a:r>
            <a:endParaRPr lang="en-US" sz="1100" dirty="0"/>
          </a:p>
        </p:txBody>
      </p:sp>
      <p:sp>
        <p:nvSpPr>
          <p:cNvPr id="15" name="Text 0"/>
          <p:cNvSpPr/>
          <p:nvPr>
            <p:ph idx="100" type="title" hasCustomPrompt="1"/>
          </p:nvPr>
        </p:nvSpPr>
        <p:spPr>
          <a:xfrm>
            <a:off x="548640" y="41148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endParaRPr lang="en-US" sz="3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agents ship your screen to the cloud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43000"/>
            <a:ext cx="4023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To act on a page, agents send screenshots and DOM text to a cloud model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That payload carries cards, Aadhaar, PAN, passwords, OTPs, API keys and private messages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Prompting the model to “ignore” them does not help: the data has already left</a:t>
            </a:r>
            <a:endParaRPr lang="en-US" sz="1500" dirty="0"/>
          </a:p>
        </p:txBody>
      </p:sp>
      <p:sp>
        <p:nvSpPr>
          <p:cNvPr id="4" name="card"/>
          <p:cNvSpPr/>
          <p:nvPr/>
        </p:nvSpPr>
        <p:spPr>
          <a:xfrm>
            <a:off x="457200" y="3429000"/>
            <a:ext cx="402336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352044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 of 34</a:t>
            </a:r>
            <a:endParaRPr lang="en-US" sz="30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sensitive values readable by OCR in a plain agent screenshot (5 test pages)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4937760" y="1097280"/>
            <a:ext cx="3566160" cy="3264408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7" name="Image 0" descr="Checkout page as an agent captures it today, all values visib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1097280"/>
            <a:ext cx="3566160" cy="326440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937760" y="44348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What an agent captures today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Zen does differently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8755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5"/>
                </a:solidFill>
              </a:rPr>
              <a:t>Typical privacy layer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3749040" y="98755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Zen</a:t>
            </a:r>
            <a:endParaRPr lang="en-US" sz="1200" dirty="0"/>
          </a:p>
        </p:txBody>
      </p:sp>
      <p:sp>
        <p:nvSpPr>
          <p:cNvPr id="5" name="card"/>
          <p:cNvSpPr/>
          <p:nvPr/>
        </p:nvSpPr>
        <p:spPr>
          <a:xfrm>
            <a:off x="457200" y="1298448"/>
            <a:ext cx="3108960" cy="576072"/>
          </a:xfrm>
          <a:prstGeom prst="roundRect">
            <a:avLst>
              <a:gd name="adj" fmla="val 1269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298448"/>
            <a:ext cx="28803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Filters the text you send to one model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593592" y="1481328"/>
            <a:ext cx="128016" cy="210312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card"/>
          <p:cNvSpPr/>
          <p:nvPr/>
        </p:nvSpPr>
        <p:spPr>
          <a:xfrm>
            <a:off x="3749040" y="1298448"/>
            <a:ext cx="4937760" cy="576072"/>
          </a:xfrm>
          <a:prstGeom prst="roundRect">
            <a:avLst>
              <a:gd name="adj" fmla="val 12698"/>
            </a:avLst>
          </a:prstGeom>
          <a:solidFill>
            <a:srgbClr val="FBE3DA"/>
          </a:solidFill>
          <a:ln w="12700">
            <a:solidFill>
              <a:srgbClr val="FBE3D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886200" y="1298448"/>
            <a:ext cx="47091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Shields the page itself: screenshots, DOM text and input values. Works for any agent, no integration</a:t>
            </a:r>
            <a:endParaRPr lang="en-US" sz="1200" dirty="0"/>
          </a:p>
        </p:txBody>
      </p:sp>
      <p:sp>
        <p:nvSpPr>
          <p:cNvPr id="10" name="card"/>
          <p:cNvSpPr/>
          <p:nvPr/>
        </p:nvSpPr>
        <p:spPr>
          <a:xfrm>
            <a:off x="457200" y="1965960"/>
            <a:ext cx="3108960" cy="576072"/>
          </a:xfrm>
          <a:prstGeom prst="roundRect">
            <a:avLst>
              <a:gd name="adj" fmla="val 1269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1965960"/>
            <a:ext cx="28803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Blanks values out, so the AI loses the thread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593592" y="2148840"/>
            <a:ext cx="128016" cy="210312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card"/>
          <p:cNvSpPr/>
          <p:nvPr/>
        </p:nvSpPr>
        <p:spPr>
          <a:xfrm>
            <a:off x="3749040" y="1965960"/>
            <a:ext cx="4937760" cy="576072"/>
          </a:xfrm>
          <a:prstGeom prst="roundRect">
            <a:avLst>
              <a:gd name="adj" fmla="val 12698"/>
            </a:avLst>
          </a:prstGeom>
          <a:solidFill>
            <a:srgbClr val="FBE3DA"/>
          </a:solidFill>
          <a:ln w="12700">
            <a:solidFill>
              <a:srgbClr val="FBE3D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886200" y="1965960"/>
            <a:ext cx="47091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Consistent pseudonyms ([EMAIL_1], [CARD_1]); the AI types the token, the real value is filled locally</a:t>
            </a:r>
            <a:endParaRPr lang="en-US" sz="1200" dirty="0"/>
          </a:p>
        </p:txBody>
      </p:sp>
      <p:sp>
        <p:nvSpPr>
          <p:cNvPr id="15" name="card"/>
          <p:cNvSpPr/>
          <p:nvPr/>
        </p:nvSpPr>
        <p:spPr>
          <a:xfrm>
            <a:off x="457200" y="2633472"/>
            <a:ext cx="3108960" cy="576072"/>
          </a:xfrm>
          <a:prstGeom prst="roundRect">
            <a:avLst>
              <a:gd name="adj" fmla="val 1269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2633472"/>
            <a:ext cx="28803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Counts regex hits, ignores what can be inferred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593592" y="2816352"/>
            <a:ext cx="128016" cy="210312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card"/>
          <p:cNvSpPr/>
          <p:nvPr/>
        </p:nvSpPr>
        <p:spPr>
          <a:xfrm>
            <a:off x="3749040" y="2633472"/>
            <a:ext cx="4937760" cy="576072"/>
          </a:xfrm>
          <a:prstGeom prst="roundRect">
            <a:avLst>
              <a:gd name="adj" fmla="val 12698"/>
            </a:avLst>
          </a:prstGeom>
          <a:solidFill>
            <a:srgbClr val="FBE3DA"/>
          </a:solidFill>
          <a:ln w="12700">
            <a:solidFill>
              <a:srgbClr val="FBE3D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886200" y="2633472"/>
            <a:ext cx="47091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Red-teams inference (“card ending 4242”, DOB + PIN) and minimises the hints away</a:t>
            </a:r>
            <a:endParaRPr lang="en-US" sz="1200" dirty="0"/>
          </a:p>
        </p:txBody>
      </p:sp>
      <p:sp>
        <p:nvSpPr>
          <p:cNvPr id="20" name="card"/>
          <p:cNvSpPr/>
          <p:nvPr/>
        </p:nvSpPr>
        <p:spPr>
          <a:xfrm>
            <a:off x="457200" y="3300984"/>
            <a:ext cx="3108960" cy="576072"/>
          </a:xfrm>
          <a:prstGeom prst="roundRect">
            <a:avLst>
              <a:gd name="adj" fmla="val 1269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94360" y="3300984"/>
            <a:ext cx="28803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Trusts the model's actions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593592" y="3483864"/>
            <a:ext cx="128016" cy="210312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card"/>
          <p:cNvSpPr/>
          <p:nvPr/>
        </p:nvSpPr>
        <p:spPr>
          <a:xfrm>
            <a:off x="3749040" y="3300984"/>
            <a:ext cx="4937760" cy="576072"/>
          </a:xfrm>
          <a:prstGeom prst="roundRect">
            <a:avLst>
              <a:gd name="adj" fmla="val 12698"/>
            </a:avLst>
          </a:prstGeom>
          <a:solidFill>
            <a:srgbClr val="FBE3DA"/>
          </a:solidFill>
          <a:ln w="12700">
            <a:solidFill>
              <a:srgbClr val="FBE3D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886200" y="3300984"/>
            <a:ext cx="47091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Local executor checks every action; secrets stay in a vault as {{SECRET:name}}; risky clicks need approval</a:t>
            </a:r>
            <a:endParaRPr lang="en-US" sz="1200" dirty="0"/>
          </a:p>
        </p:txBody>
      </p:sp>
      <p:sp>
        <p:nvSpPr>
          <p:cNvPr id="25" name="card"/>
          <p:cNvSpPr/>
          <p:nvPr/>
        </p:nvSpPr>
        <p:spPr>
          <a:xfrm>
            <a:off x="457200" y="3968496"/>
            <a:ext cx="3108960" cy="576072"/>
          </a:xfrm>
          <a:prstGeom prst="roundRect">
            <a:avLst>
              <a:gd name="adj" fmla="val 1269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94360" y="3968496"/>
            <a:ext cx="28803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Fails open if a check breaks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593592" y="4151376"/>
            <a:ext cx="128016" cy="210312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card"/>
          <p:cNvSpPr/>
          <p:nvPr/>
        </p:nvSpPr>
        <p:spPr>
          <a:xfrm>
            <a:off x="3749040" y="3968496"/>
            <a:ext cx="4937760" cy="576072"/>
          </a:xfrm>
          <a:prstGeom prst="roundRect">
            <a:avLst>
              <a:gd name="adj" fmla="val 12698"/>
            </a:avLst>
          </a:prstGeom>
          <a:solidFill>
            <a:srgbClr val="FBE3DA"/>
          </a:solidFill>
          <a:ln w="12700">
            <a:solidFill>
              <a:srgbClr val="FBE3D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886200" y="3968496"/>
            <a:ext cx="47091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Fail-closed egress gate with canaries; a scanner error blocks the send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Everything sensitive is decided on the device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457200" y="1051560"/>
            <a:ext cx="8229600" cy="2377440"/>
          </a:xfrm>
          <a:prstGeom prst="roundRect">
            <a:avLst>
              <a:gd name="adj" fmla="val 307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4" name="Image 0" descr="Data flow: page capture, local detectors, sanitized view, minimize, fail-closed gate, then the external LLM; actions come back through a local executor with vault, pseudonym map and user approv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097280"/>
            <a:ext cx="8138160" cy="22402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6118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Only sanitized JSON crosses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90448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the trust boundary to the external LLM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3264408" y="36118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Real values come back locally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3264408" y="390448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pseudonym.py and vault.py resolve tokens inside the executor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6071616" y="36118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Same detector everywhere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071616" y="390448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detect.py and its JS port stay in parity, checked by a test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Shield: protect the page, not the prompt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51760" cy="2423160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4" name="Image 0" descr="Checkout page without Z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2651760" cy="2423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337560" y="1097280"/>
            <a:ext cx="2651760" cy="2423160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6" name="Image 1" descr="Same page with Agent Shield: opaque blocks per kin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097280"/>
            <a:ext cx="2651760" cy="24231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57200" y="358444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Without Zen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3337560" y="358444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Shield on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6217920" y="10515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What it detects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6217920" y="1371600"/>
            <a:ext cx="1188720" cy="292608"/>
          </a:xfrm>
          <a:prstGeom prst="roundRect">
            <a:avLst>
              <a:gd name="adj" fmla="val 15625"/>
            </a:avLst>
          </a:prstGeom>
          <a:solidFill>
            <a:srgbClr val="FBE3DA"/>
          </a:solidFill>
          <a:ln w="12700">
            <a:solidFill>
              <a:srgbClr val="FBE3DA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217920" y="137160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UPI ID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7470648" y="1371600"/>
            <a:ext cx="1188720" cy="292608"/>
          </a:xfrm>
          <a:prstGeom prst="roundRect">
            <a:avLst>
              <a:gd name="adj" fmla="val 15625"/>
            </a:avLst>
          </a:prstGeom>
          <a:solidFill>
            <a:srgbClr val="FBE3DA"/>
          </a:solidFill>
          <a:ln w="12700">
            <a:solidFill>
              <a:srgbClr val="FBE3D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470648" y="137160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Bank account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217920" y="1737360"/>
            <a:ext cx="1188720" cy="292608"/>
          </a:xfrm>
          <a:prstGeom prst="roundRect">
            <a:avLst>
              <a:gd name="adj" fmla="val 15625"/>
            </a:avLst>
          </a:prstGeom>
          <a:solidFill>
            <a:srgbClr val="FBE3DA"/>
          </a:solidFill>
          <a:ln w="12700">
            <a:solidFill>
              <a:srgbClr val="FBE3DA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217920" y="173736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IFSC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7470648" y="1737360"/>
            <a:ext cx="1188720" cy="292608"/>
          </a:xfrm>
          <a:prstGeom prst="roundRect">
            <a:avLst>
              <a:gd name="adj" fmla="val 15625"/>
            </a:avLst>
          </a:prstGeom>
          <a:solidFill>
            <a:srgbClr val="FBE3DA"/>
          </a:solidFill>
          <a:ln w="12700">
            <a:solidFill>
              <a:srgbClr val="FBE3DA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7470648" y="173736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GSTIN · mod-36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6217920" y="2103120"/>
            <a:ext cx="1188720" cy="292608"/>
          </a:xfrm>
          <a:prstGeom prst="roundRect">
            <a:avLst>
              <a:gd name="adj" fmla="val 15625"/>
            </a:avLst>
          </a:prstGeom>
          <a:solidFill>
            <a:srgbClr val="FBE3DA"/>
          </a:solidFill>
          <a:ln w="12700">
            <a:solidFill>
              <a:srgbClr val="FBE3D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217920" y="210312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Aadhaar · Verhoeff</a:t>
            </a:r>
            <a:endParaRPr lang="en-US" sz="1000" dirty="0"/>
          </a:p>
        </p:txBody>
      </p:sp>
      <p:sp>
        <p:nvSpPr>
          <p:cNvPr id="20" name="Shape 16"/>
          <p:cNvSpPr/>
          <p:nvPr/>
        </p:nvSpPr>
        <p:spPr>
          <a:xfrm>
            <a:off x="7470648" y="2103120"/>
            <a:ext cx="1188720" cy="292608"/>
          </a:xfrm>
          <a:prstGeom prst="roundRect">
            <a:avLst>
              <a:gd name="adj" fmla="val 15625"/>
            </a:avLst>
          </a:prstGeom>
          <a:solidFill>
            <a:srgbClr val="FBE3DA"/>
          </a:solidFill>
          <a:ln w="12700">
            <a:solidFill>
              <a:srgbClr val="FBE3DA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7470648" y="210312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PAN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6217920" y="2468880"/>
            <a:ext cx="1188720" cy="292608"/>
          </a:xfrm>
          <a:prstGeom prst="roundRect">
            <a:avLst>
              <a:gd name="adj" fmla="val 15625"/>
            </a:avLst>
          </a:prstGeom>
          <a:solidFill>
            <a:srgbClr val="FBE3DA"/>
          </a:solidFill>
          <a:ln w="12700">
            <a:solidFill>
              <a:srgbClr val="FBE3DA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217920" y="246888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Voter ID</a:t>
            </a:r>
            <a:endParaRPr lang="en-US" sz="1000" dirty="0"/>
          </a:p>
        </p:txBody>
      </p:sp>
      <p:sp>
        <p:nvSpPr>
          <p:cNvPr id="24" name="Shape 20"/>
          <p:cNvSpPr/>
          <p:nvPr/>
        </p:nvSpPr>
        <p:spPr>
          <a:xfrm>
            <a:off x="7470648" y="2468880"/>
            <a:ext cx="1188720" cy="292608"/>
          </a:xfrm>
          <a:prstGeom prst="roundRect">
            <a:avLst>
              <a:gd name="adj" fmla="val 15625"/>
            </a:avLst>
          </a:prstGeom>
          <a:solidFill>
            <a:srgbClr val="FBE3DA"/>
          </a:solidFill>
          <a:ln w="12700">
            <a:solidFill>
              <a:srgbClr val="FBE3DA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7470648" y="246888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Passport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6217920" y="2834640"/>
            <a:ext cx="1188720" cy="292608"/>
          </a:xfrm>
          <a:prstGeom prst="roundRect">
            <a:avLst>
              <a:gd name="adj" fmla="val 15625"/>
            </a:avLst>
          </a:prstGeom>
          <a:solidFill>
            <a:srgbClr val="FBE3DA"/>
          </a:solidFill>
          <a:ln w="12700">
            <a:solidFill>
              <a:srgbClr val="FBE3DA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6217920" y="283464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Vehicle plate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7470648" y="2834640"/>
            <a:ext cx="1188720" cy="292608"/>
          </a:xfrm>
          <a:prstGeom prst="roundRect">
            <a:avLst>
              <a:gd name="adj" fmla="val 15625"/>
            </a:avLst>
          </a:prstGeom>
          <a:solidFill>
            <a:srgbClr val="FBE3DA"/>
          </a:solidFill>
          <a:ln w="12700">
            <a:solidFill>
              <a:srgbClr val="FBE3DA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7470648" y="283464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+91 phone</a:t>
            </a:r>
            <a:endParaRPr lang="en-US" sz="1000" dirty="0"/>
          </a:p>
        </p:txBody>
      </p:sp>
      <p:sp>
        <p:nvSpPr>
          <p:cNvPr id="30" name="Shape 26"/>
          <p:cNvSpPr/>
          <p:nvPr/>
        </p:nvSpPr>
        <p:spPr>
          <a:xfrm>
            <a:off x="6217920" y="3200400"/>
            <a:ext cx="1188720" cy="292608"/>
          </a:xfrm>
          <a:prstGeom prst="roundRect">
            <a:avLst>
              <a:gd name="adj" fmla="val 1562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6217920" y="320040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Card · Luhn</a:t>
            </a:r>
            <a:endParaRPr lang="en-US" sz="1000" dirty="0"/>
          </a:p>
        </p:txBody>
      </p:sp>
      <p:sp>
        <p:nvSpPr>
          <p:cNvPr id="32" name="Shape 28"/>
          <p:cNvSpPr/>
          <p:nvPr/>
        </p:nvSpPr>
        <p:spPr>
          <a:xfrm>
            <a:off x="7470648" y="3200400"/>
            <a:ext cx="1188720" cy="292608"/>
          </a:xfrm>
          <a:prstGeom prst="roundRect">
            <a:avLst>
              <a:gd name="adj" fmla="val 1562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7470648" y="320040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OTP · password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6217920" y="3566160"/>
            <a:ext cx="1188720" cy="292608"/>
          </a:xfrm>
          <a:prstGeom prst="roundRect">
            <a:avLst>
              <a:gd name="adj" fmla="val 1562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6217920" y="356616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API key · token</a:t>
            </a:r>
            <a:endParaRPr lang="en-US" sz="1000" dirty="0"/>
          </a:p>
        </p:txBody>
      </p:sp>
      <p:sp>
        <p:nvSpPr>
          <p:cNvPr id="36" name="Shape 32"/>
          <p:cNvSpPr/>
          <p:nvPr/>
        </p:nvSpPr>
        <p:spPr>
          <a:xfrm>
            <a:off x="7470648" y="3566160"/>
            <a:ext cx="1188720" cy="292608"/>
          </a:xfrm>
          <a:prstGeom prst="roundRect">
            <a:avLst>
              <a:gd name="adj" fmla="val 1562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7470648" y="356616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Email · IP</a:t>
            </a:r>
            <a:endParaRPr lang="en-US" sz="1000" dirty="0"/>
          </a:p>
        </p:txBody>
      </p:sp>
      <p:sp>
        <p:nvSpPr>
          <p:cNvPr id="38" name="Shape 34"/>
          <p:cNvSpPr/>
          <p:nvPr/>
        </p:nvSpPr>
        <p:spPr>
          <a:xfrm>
            <a:off x="6217920" y="3931920"/>
            <a:ext cx="1188720" cy="292608"/>
          </a:xfrm>
          <a:prstGeom prst="roundRect">
            <a:avLst>
              <a:gd name="adj" fmla="val 1562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6217920" y="393192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Faces</a:t>
            </a:r>
            <a:endParaRPr lang="en-US" sz="1000" dirty="0"/>
          </a:p>
        </p:txBody>
      </p:sp>
      <p:sp>
        <p:nvSpPr>
          <p:cNvPr id="40" name="Shape 36"/>
          <p:cNvSpPr/>
          <p:nvPr/>
        </p:nvSpPr>
        <p:spPr>
          <a:xfrm>
            <a:off x="7470648" y="3931920"/>
            <a:ext cx="1188720" cy="292608"/>
          </a:xfrm>
          <a:prstGeom prst="roundRect">
            <a:avLst>
              <a:gd name="adj" fmla="val 1562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7470648" y="393192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Address · name fields</a:t>
            </a:r>
            <a:endParaRPr lang="en-US" sz="1000" dirty="0"/>
          </a:p>
        </p:txBody>
      </p:sp>
      <p:sp>
        <p:nvSpPr>
          <p:cNvPr id="42" name="Text 38"/>
          <p:cNvSpPr txBox="1"/>
          <p:nvPr/>
        </p:nvSpPr>
        <p:spPr>
          <a:xfrm>
            <a:off x="6217920" y="43434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Highlighted: built for India. Hindi digits (०–९) and Hinglish keywords handled too.</a:t>
            </a:r>
            <a:endParaRPr lang="en-US" sz="1000" dirty="0"/>
          </a:p>
        </p:txBody>
      </p:sp>
      <p:sp>
        <p:nvSpPr>
          <p:cNvPr id="43" name="Text 39"/>
          <p:cNvSpPr txBox="1"/>
          <p:nvPr/>
        </p:nvSpPr>
        <p:spPr>
          <a:xfrm>
            <a:off x="457200" y="3931920"/>
            <a:ext cx="5532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Turns on by itself when an agent drives the browser. Covers appear about 3 ms after new content; real values never leave the page.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also test what an AI could guess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365760" y="914400"/>
          <a:ext cx="5029200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"/>
          <p:cNvSpPr/>
          <p:nvPr/>
        </p:nvSpPr>
        <p:spPr>
          <a:xfrm>
            <a:off x="5577840" y="1005840"/>
            <a:ext cx="310896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715000" y="107899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“card ending 4242”, 98XXXXX210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715000" y="137160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partial values removed before the AI sees them</a:t>
            </a:r>
            <a:endParaRPr lang="en-US" sz="1100" dirty="0"/>
          </a:p>
        </p:txBody>
      </p:sp>
      <p:sp>
        <p:nvSpPr>
          <p:cNvPr id="7" name="card"/>
          <p:cNvSpPr/>
          <p:nvPr/>
        </p:nvSpPr>
        <p:spPr>
          <a:xfrm>
            <a:off x="5577840" y="1828800"/>
            <a:ext cx="310896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715000" y="190195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DOB → year, PIN code → district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715000" y="219456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quasi-identifiers coarsened; every anonymity set stays ≥ 20</a:t>
            </a:r>
            <a:endParaRPr lang="en-US" sz="1100" dirty="0"/>
          </a:p>
        </p:txBody>
      </p:sp>
      <p:sp>
        <p:nvSpPr>
          <p:cNvPr id="10" name="card"/>
          <p:cNvSpPr/>
          <p:nvPr/>
        </p:nvSpPr>
        <p:spPr>
          <a:xfrm>
            <a:off x="5577840" y="2651760"/>
            <a:ext cx="310896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715000" y="272491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0 of 260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5715000" y="30175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harmless tokens changed: utility kept</a:t>
            </a:r>
            <a:endParaRPr lang="en-US" sz="1100" dirty="0"/>
          </a:p>
        </p:txBody>
      </p:sp>
      <p:sp>
        <p:nvSpPr>
          <p:cNvPr id="13" name="card"/>
          <p:cNvSpPr/>
          <p:nvPr/>
        </p:nvSpPr>
        <p:spPr>
          <a:xfrm>
            <a:off x="457200" y="3611880"/>
            <a:ext cx="82296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94360" y="3685032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On the page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1828800" y="3685032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Card ending 4242 · meera@example.com · DOB 14/03/1991 · PIN 560038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594360" y="4005072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Plain redaction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828800" y="4005072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Card ending 4242 · [REDACTED:EMAIL] · DOB 14/03/1991 · PIN 560038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995160" y="400507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BA1A1A"/>
                </a:solidFill>
              </a:rPr>
              <a:t>digits, DOB, PIN leak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594360" y="4325112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Zen sends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1828800" y="4325112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Card ending [MASKED] · [EMAIL_1] · DOB 1991 · PIN 560xxx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6995160" y="432511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only coarse hints left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Unsafe sends and actions are stopped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840480" cy="3218688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4" name="Image 0" descr="Zen dialog stopping a chat message that contains a card, phone and ema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3840480" cy="321868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43891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AI-chat send guard: “Send sanitized” is the default</a:t>
            </a:r>
            <a:endParaRPr lang="en-US" sz="1100" dirty="0"/>
          </a:p>
        </p:txBody>
      </p:sp>
      <p:sp>
        <p:nvSpPr>
          <p:cNvPr id="6" name="card"/>
          <p:cNvSpPr/>
          <p:nvPr/>
        </p:nvSpPr>
        <p:spPr>
          <a:xfrm>
            <a:off x="4617720" y="1097280"/>
            <a:ext cx="4069080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754880" y="1170432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Send guard fails closed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754880" y="1444752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if the editor refuses the sanitized text, nothing is sent</a:t>
            </a:r>
            <a:endParaRPr lang="en-US" sz="1100" dirty="0"/>
          </a:p>
        </p:txBody>
      </p:sp>
      <p:sp>
        <p:nvSpPr>
          <p:cNvPr id="9" name="card"/>
          <p:cNvSpPr/>
          <p:nvPr/>
        </p:nvSpPr>
        <p:spPr>
          <a:xfrm>
            <a:off x="4617720" y="1965960"/>
            <a:ext cx="4069080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754880" y="2039112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Secrets the AI never sees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4754880" y="2313432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it types {{SECRET:login_password}}; the executor fills the real value after approval</a:t>
            </a:r>
            <a:endParaRPr lang="en-US" sz="1100" dirty="0"/>
          </a:p>
        </p:txBody>
      </p:sp>
      <p:sp>
        <p:nvSpPr>
          <p:cNvPr id="12" name="card"/>
          <p:cNvSpPr/>
          <p:nvPr/>
        </p:nvSpPr>
        <p:spPr>
          <a:xfrm>
            <a:off x="4617720" y="2834640"/>
            <a:ext cx="4069080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54880" y="2907792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Prompt injection rejected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754880" y="3182112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5 of 5 hijack attempts on the test page blocked; navigation only to allowed sites</a:t>
            </a:r>
            <a:endParaRPr lang="en-US" sz="1100" dirty="0"/>
          </a:p>
        </p:txBody>
      </p:sp>
      <p:sp>
        <p:nvSpPr>
          <p:cNvPr id="15" name="card"/>
          <p:cNvSpPr/>
          <p:nvPr/>
        </p:nvSpPr>
        <p:spPr>
          <a:xfrm>
            <a:off x="4617720" y="3703320"/>
            <a:ext cx="4069080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54880" y="3776472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Fail-closed egress gate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754880" y="4050792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every payload re-scanned; 5 of 5 canaries blocked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 results, honest limits</a:t>
            </a:r>
            <a:endParaRPr lang="en-US" sz="3600" dirty="0"/>
          </a:p>
        </p:txBody>
      </p:sp>
      <p:sp>
        <p:nvSpPr>
          <p:cNvPr id="3" name="card"/>
          <p:cNvSpPr/>
          <p:nvPr/>
        </p:nvSpPr>
        <p:spPr>
          <a:xfrm>
            <a:off x="548640" y="1280160"/>
            <a:ext cx="1645920" cy="1261872"/>
          </a:xfrm>
          <a:prstGeom prst="roundRect">
            <a:avLst>
              <a:gd name="adj" fmla="val 5797"/>
            </a:avLst>
          </a:prstGeom>
          <a:solidFill>
            <a:srgbClr val="211E19"/>
          </a:solidFill>
          <a:ln w="12700">
            <a:solidFill>
              <a:srgbClr val="211E1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138988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 → 0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1883664"/>
            <a:ext cx="1463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values readable by OCR in agent screenshots</a:t>
            </a:r>
            <a:endParaRPr lang="en-US" sz="1100" dirty="0"/>
          </a:p>
        </p:txBody>
      </p:sp>
      <p:sp>
        <p:nvSpPr>
          <p:cNvPr id="6" name="card"/>
          <p:cNvSpPr/>
          <p:nvPr/>
        </p:nvSpPr>
        <p:spPr>
          <a:xfrm>
            <a:off x="2331720" y="1280160"/>
            <a:ext cx="1645920" cy="1261872"/>
          </a:xfrm>
          <a:prstGeom prst="roundRect">
            <a:avLst>
              <a:gd name="adj" fmla="val 5797"/>
            </a:avLst>
          </a:prstGeom>
          <a:solidFill>
            <a:srgbClr val="211E19"/>
          </a:solidFill>
          <a:ln w="12700">
            <a:solidFill>
              <a:srgbClr val="211E1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441448" y="138988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· 0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2441448" y="1883664"/>
            <a:ext cx="1463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values in page text / input values, shield on</a:t>
            </a:r>
            <a:endParaRPr lang="en-US" sz="1100" dirty="0"/>
          </a:p>
        </p:txBody>
      </p:sp>
      <p:sp>
        <p:nvSpPr>
          <p:cNvPr id="9" name="card"/>
          <p:cNvSpPr/>
          <p:nvPr/>
        </p:nvSpPr>
        <p:spPr>
          <a:xfrm>
            <a:off x="4114800" y="1280160"/>
            <a:ext cx="1645920" cy="1261872"/>
          </a:xfrm>
          <a:prstGeom prst="roundRect">
            <a:avLst>
              <a:gd name="adj" fmla="val 5797"/>
            </a:avLst>
          </a:prstGeom>
          <a:solidFill>
            <a:srgbClr val="211E19"/>
          </a:solidFill>
          <a:ln w="12700">
            <a:solidFill>
              <a:srgbClr val="211E1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224528" y="138988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4224528" y="1883664"/>
            <a:ext cx="1463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non-sensitive context kept</a:t>
            </a:r>
            <a:endParaRPr lang="en-US" sz="1100" dirty="0"/>
          </a:p>
        </p:txBody>
      </p:sp>
      <p:sp>
        <p:nvSpPr>
          <p:cNvPr id="12" name="card"/>
          <p:cNvSpPr/>
          <p:nvPr/>
        </p:nvSpPr>
        <p:spPr>
          <a:xfrm>
            <a:off x="548640" y="2697480"/>
            <a:ext cx="1645920" cy="1261872"/>
          </a:xfrm>
          <a:prstGeom prst="roundRect">
            <a:avLst>
              <a:gd name="adj" fmla="val 5797"/>
            </a:avLst>
          </a:prstGeom>
          <a:solidFill>
            <a:srgbClr val="211E19"/>
          </a:solidFill>
          <a:ln w="12700">
            <a:solidFill>
              <a:srgbClr val="211E1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" y="28072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0.99 / 1.00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" y="3300984"/>
            <a:ext cx="1463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detector recall / precision, 150 cases</a:t>
            </a:r>
            <a:endParaRPr lang="en-US" sz="1100" dirty="0"/>
          </a:p>
        </p:txBody>
      </p:sp>
      <p:sp>
        <p:nvSpPr>
          <p:cNvPr id="15" name="card"/>
          <p:cNvSpPr/>
          <p:nvPr/>
        </p:nvSpPr>
        <p:spPr>
          <a:xfrm>
            <a:off x="2331720" y="2697480"/>
            <a:ext cx="1645920" cy="1261872"/>
          </a:xfrm>
          <a:prstGeom prst="roundRect">
            <a:avLst>
              <a:gd name="adj" fmla="val 5797"/>
            </a:avLst>
          </a:prstGeom>
          <a:solidFill>
            <a:srgbClr val="211E19"/>
          </a:solidFill>
          <a:ln w="12700">
            <a:solidFill>
              <a:srgbClr val="211E1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441448" y="28072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/ 260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2441448" y="3300984"/>
            <a:ext cx="1463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hard-negative tokens changed by minimize</a:t>
            </a:r>
            <a:endParaRPr lang="en-US" sz="1100" dirty="0"/>
          </a:p>
        </p:txBody>
      </p:sp>
      <p:sp>
        <p:nvSpPr>
          <p:cNvPr id="18" name="card"/>
          <p:cNvSpPr/>
          <p:nvPr/>
        </p:nvSpPr>
        <p:spPr>
          <a:xfrm>
            <a:off x="4114800" y="2697480"/>
            <a:ext cx="1645920" cy="1261872"/>
          </a:xfrm>
          <a:prstGeom prst="roundRect">
            <a:avLst>
              <a:gd name="adj" fmla="val 5797"/>
            </a:avLst>
          </a:prstGeom>
          <a:solidFill>
            <a:srgbClr val="211E19"/>
          </a:solidFill>
          <a:ln w="12700">
            <a:solidFill>
              <a:srgbClr val="211E1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224528" y="28072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263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4224528" y="3300984"/>
            <a:ext cx="1463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Python tests pass, JS parity holds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035040" y="128016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2"/>
                </a:solidFill>
              </a:rPr>
              <a:t>Known gaps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035040" y="1645920"/>
            <a:ext cx="26517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bg2"/>
                </a:solidFill>
              </a:rPr>
              <a:t>Obfuscated PII (spaced digits, “at/dot” emails): adversarial recall 0.20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bg2"/>
                </a:solidFill>
              </a:rPr>
              <a:t>Person names need NER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bg2"/>
                </a:solidFill>
              </a:rPr>
              <a:t>Main-world page scripts can read their own variables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34340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Claims cover the synthetic test pages and pathways only · github.com/PECathon-2026/Zen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Zen">
  <a:themeElements>
    <a:clrScheme name="Zen">
      <a:dk1>
        <a:srgbClr val="1B1C1A"/>
      </a:dk1>
      <a:lt1>
        <a:srgbClr val="FFFFFF"/>
      </a:lt1>
      <a:dk2>
        <a:srgbClr val="16140F"/>
      </a:dk2>
      <a:lt2>
        <a:srgbClr val="F3F1EC"/>
      </a:lt2>
      <a:accent1>
        <a:srgbClr val="B8431E"/>
      </a:accent1>
      <a:accent2>
        <a:srgbClr val="FFB59F"/>
      </a:accent2>
      <a:accent3>
        <a:srgbClr val="711C00"/>
      </a:accent3>
      <a:accent4>
        <a:srgbClr val="246B43"/>
      </a:accent4>
      <a:accent5>
        <a:srgbClr val="5A4A40"/>
      </a:accent5>
      <a:accent6>
        <a:srgbClr val="D9B8AB"/>
      </a:accent6>
      <a:hlink>
        <a:srgbClr val="B8431E"/>
      </a:hlink>
      <a:folHlink>
        <a:srgbClr val="711C00"/>
      </a:folHlink>
    </a:clrScheme>
    <a:fontScheme name="Zen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Zen: a local privacy lens for AI browser agents</dc:title>
  <dc:subject>PptxGenJS Presentation</dc:subject>
  <dc:creator>PptxGenJS</dc:creator>
  <cp:lastModifiedBy>PptxGenJS</cp:lastModifiedBy>
  <cp:revision>1</cp:revision>
  <dcterms:created xsi:type="dcterms:W3CDTF">2026-10-30T02:55:28Z</dcterms:created>
  <dcterms:modified xsi:type="dcterms:W3CDTF">2026-10-30T02:55:28Z</dcterms:modified>
</cp:coreProperties>
</file>